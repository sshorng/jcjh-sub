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6C6FF"/>
                </a:solidFill>
                <a:latin typeface="Microsoft JhengHei"/>
              </a:rPr>
              <a:t>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EAF1FF"/>
                </a:solidFill>
                <a:latin typeface="Microsoft JhengHei"/>
              </a:rPr>
              <a:t>線上調代課系統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6C6FF"/>
                </a:solidFill>
                <a:latin typeface="Microsoft JhengHei"/>
              </a:rPr>
              <a:t>建成國中全校推廣說明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754880"/>
            <a:ext cx="8138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7F90B0"/>
                </a:solidFill>
                <a:latin typeface="Microsoft JhengHei"/>
              </a:rPr>
              <a:t>請假、媒合、簽核、結算，一條線完成。讓老師少跑腿，行政少對帳。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F90B0"/>
                </a:solidFill>
                <a:latin typeface="Microsoft JhengHei"/>
              </a:rPr>
              <a:t>建成國中　校務數位化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0" b="1">
                <a:solidFill>
                  <a:srgbClr val="46C6FF"/>
                </a:solidFill>
                <a:latin typeface="Microsoft JhengHei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9669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EAF1FF"/>
                </a:solidFill>
                <a:latin typeface="Microsoft JhengHei"/>
              </a:rPr>
              <a:t>把找人、對課表、簽核、結算，串成一條線。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7F90B0"/>
                </a:solidFill>
                <a:latin typeface="Microsoft JhengHei"/>
              </a:rPr>
              <a:t>系統核心價值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痛點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為什麼要換做法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5A4D"/>
                </a:solidFill>
                <a:latin typeface="Microsoft JhengHei"/>
              </a:rPr>
              <a:t>舊做法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5029200" cy="36576"/>
          </a:xfrm>
          <a:prstGeom prst="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LINE 私訊找人，容易漏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課表與申請各處分開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衝堂連堂靠人工記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月底鐘點難對帳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新系統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029200" cy="36576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點課表格子就能申請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智慧媒合推薦代課人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模擬對照防衝堂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EAF1FF"/>
                </a:solidFill>
                <a:latin typeface="Microsoft JhengHei"/>
              </a:rPr>
              <a:t>●  核准後課表正式生效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角色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三種角色，各取所需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教師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點格申請、回覆邀請、查歷史、列印各聯。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5274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9594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9594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行政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594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全校課表、班級課表；授權後可代老師送單。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9028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53348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3348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教學組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核准、活動互代、鐘點結算、教師與課表管理。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流程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五步完成一筆調代課</a:t>
            </a:r>
          </a:p>
        </p:txBody>
      </p:sp>
      <p:sp>
        <p:nvSpPr>
          <p:cNvPr id="11" name="Oval 10"/>
          <p:cNvSpPr/>
          <p:nvPr/>
        </p:nvSpPr>
        <p:spPr>
          <a:xfrm>
            <a:off x="1447769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7769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點格子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課表總覽選節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1219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3520348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348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708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智慧媒合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08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代課或調課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3798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5592927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2927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4287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模擬對照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4287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防衝堂填假別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377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665506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5506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6866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送出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6866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請對方同意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8956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9738085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085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445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教學組核准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445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課表正式生效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6C6FF"/>
                </a:solidFill>
                <a:latin typeface="Microsoft JhengHei"/>
              </a:rPr>
              <a:t>送出不等於生效。對方同意且教學組核准後，課表才變更。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教師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老師最常用的能力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8366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智慧媒合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依同課、同科、同班排序，當日課少者優先，減少亂槍打鳥。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6382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08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批次代課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半天或一天多節一次選完，可同一人全代或每節不同人，上限二十節。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待辦簽核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收到邀請一鍵同意或拒絕，同批可全同意，進度清楚可追。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24143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669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歷史與列印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6144767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核准後可查紀錄，列印教師聯、班級聯、留存聯。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6C6FF"/>
                </a:solidFill>
                <a:latin typeface="Microsoft JhengHei"/>
              </a:rPr>
              <a:t>第一次請按右上問號，三分鐘導覽不會真送單。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行政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教學組與行政亮點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8366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待核准與直接核准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批次核准駁回；緊急可勾教學組直接核准，課表立刻變更。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6382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08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行政代申請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白名單行政可代全校送單，跳過受邀，仍須教學組核准。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活動互代與空堂事件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班級外出、畢旅畢業等情境，額度與公費規則一次處理。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24143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669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鐘點結算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6144767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月底大鐘點與代課費，一鍵匯出 Excel，減少人工重算。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6C6FF"/>
                </a:solidFill>
                <a:latin typeface="Microsoft JhengHei"/>
              </a:rPr>
              <a:t>後台含教師管理、課表匯入、學期與系統設定。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經費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經費三軌，送出前選清楚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自費代課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請假人自付，扣自己超時。病假事假常見。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5274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9594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9594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公費代課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594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公費沖超時，代課人可領公代費。公假婚喪等。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9028" y="1828800"/>
            <a:ext cx="3381146" cy="4389120"/>
          </a:xfrm>
          <a:prstGeom prst="roundRect">
            <a:avLst/>
          </a:prstGeom>
          <a:solidFill>
            <a:srgbClr val="141D33"/>
          </a:solidFill>
          <a:ln w="254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53348" y="2103120"/>
            <a:ext cx="274320" cy="2743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3348" y="251460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扣額度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063240"/>
            <a:ext cx="2832506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90B0"/>
                </a:solidFill>
                <a:latin typeface="Microsoft JhengHei"/>
              </a:rPr>
              <a:t>不結鐘點，扣互代額度一點。活動互代另有規則。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導入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全校導入四週節奏</a:t>
            </a:r>
          </a:p>
        </p:txBody>
      </p:sp>
      <p:sp>
        <p:nvSpPr>
          <p:cNvPr id="11" name="Oval 10"/>
          <p:cNvSpPr/>
          <p:nvPr/>
        </p:nvSpPr>
        <p:spPr>
          <a:xfrm>
            <a:off x="1706841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6841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201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整備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201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匯入課表與角色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9363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297565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565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8925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種子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8925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教學組與行政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0087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888289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8289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9649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擴散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649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領域小幫手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0811" y="2926079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6C6FF"/>
                </a:solidFill>
                <a:latin typeface="Microsoft JhengHei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479013" y="2743200"/>
            <a:ext cx="1005840" cy="1005840"/>
          </a:xfrm>
          <a:prstGeom prst="ellipse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9013" y="27432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6C6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373" y="3840479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AF1FF"/>
                </a:solidFill>
                <a:latin typeface="Microsoft JhengHei"/>
              </a:rPr>
              <a:t>切換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0373" y="434340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90B0"/>
                </a:solidFill>
                <a:latin typeface="Microsoft JhengHei"/>
              </a:rPr>
              <a:t>公告以系統為準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6C6FF"/>
                </a:solidFill>
                <a:latin typeface="Microsoft JhengHei"/>
              </a:rPr>
              <a:t>切換日後，調代課與鐘點核銷建議綁定系統紀錄。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46C6FF"/>
                </a:solidFill>
                <a:latin typeface="Microsoft JhengHei"/>
              </a:rPr>
              <a:t>行動  </a:t>
            </a:r>
            <a:r>
              <a:rPr sz="3000" b="1">
                <a:solidFill>
                  <a:srgbClr val="EAF1FF"/>
                </a:solidFill>
                <a:latin typeface="Microsoft JhengHei"/>
              </a:rPr>
              <a:t>今天請你做三件事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8366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用本校帳號登入一次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確認右上角姓名與角色徽章正確。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63824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08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按問號走完操作教學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約三到四分鐘，示範不會真的送出申請。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256032" cy="256032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AF1FF"/>
                </a:solidFill>
                <a:latin typeface="Microsoft JhengHei"/>
              </a:rPr>
              <a:t>試送一筆或回覆一筆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90B0"/>
                </a:solidFill>
                <a:latin typeface="Microsoft JhengHei"/>
              </a:rPr>
              <a:t>有請假就走系統；被邀請就到待辦簽核處理。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6C6FF"/>
                </a:solidFill>
                <a:latin typeface="Microsoft JhengHei"/>
              </a:rPr>
              <a:t>卡住請找領域種子老師或教學組，當週會快速修。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3599" y="310896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35079" y="310896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3599" y="6501384"/>
            <a:ext cx="457200" cy="4572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35079" y="6089904"/>
            <a:ext cx="45720" cy="457200"/>
          </a:xfrm>
          <a:prstGeom prst="rect">
            <a:avLst/>
          </a:prstGeom>
          <a:solidFill>
            <a:srgbClr val="46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6C6FF"/>
                </a:solidFill>
                <a:latin typeface="Microsoft JhengHei"/>
              </a:rPr>
              <a:t>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828800"/>
            <a:ext cx="8869680" cy="2926080"/>
          </a:xfrm>
          <a:prstGeom prst="rect">
            <a:avLst/>
          </a:prstGeom>
          <a:noFill/>
          <a:ln w="38100">
            <a:solidFill>
              <a:srgbClr val="46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813816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AF1FF"/>
                </a:solidFill>
                <a:latin typeface="Microsoft JhengHei"/>
              </a:rPr>
              <a:t>少傳訊息，多一點秩序。
建成國中線上調代課系統，
與同仁一起把行政負擔降下來。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46C6FF"/>
                </a:solidFill>
                <a:latin typeface="Microsoft JhengHei"/>
              </a:rPr>
              <a:t>A 系統介紹      B 操作手冊      C 本投影片      可重播教學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F90B0"/>
                </a:solidFill>
                <a:latin typeface="Microsoft JhengHei"/>
              </a:rPr>
              <a:t>建成國中　校務數位化　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